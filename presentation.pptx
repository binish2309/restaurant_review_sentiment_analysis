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88719" y="2194560"/>
            <a:ext cx="2011680" cy="20116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79" y="4526280"/>
            <a:ext cx="1005840" cy="10058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91840" y="731519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FFFFFF"/>
                </a:solidFill>
                <a:latin typeface="Calibri"/>
              </a:rPr>
              <a:t>🍽️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Restaurant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0574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0B981"/>
                </a:solidFill>
                <a:latin typeface="Cambria"/>
              </a:rPr>
              <a:t>Sentiment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74320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94A3B8"/>
                </a:solidFill>
                <a:latin typeface="Cambria"/>
              </a:rPr>
              <a:t>using NLP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52044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Calibri"/>
              </a:rPr>
              <a:t>Turning customer voices into actionable business intelligence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4297680"/>
            <a:ext cx="123444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431596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297680"/>
            <a:ext cx="123444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431596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  <a:latin typeface="Calibri"/>
              </a:rPr>
              <a:t>NLTK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4297680"/>
            <a:ext cx="123444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431596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BBF24"/>
                </a:solidFill>
                <a:latin typeface="Calibri"/>
              </a:rPr>
              <a:t>VADER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4297680"/>
            <a:ext cx="123444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431596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78BFA"/>
                </a:solidFill>
                <a:latin typeface="Calibri"/>
              </a:rPr>
              <a:t>Scikit-learn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0" y="4297680"/>
            <a:ext cx="123444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0" y="431596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Calibri"/>
              </a:rPr>
              <a:t>Streamlit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62179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Portfolio Project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Restaurants are swimming in unread reviews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Every day, thousands of reviews are posted on Yelp, Google, and TripAdvisor — most restaurants never systematically read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3566160" cy="21031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mbria"/>
              </a:rPr>
              <a:t>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Millions of reviews daily — manual reading is impossible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651760"/>
            <a:ext cx="3566160" cy="21031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697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mbria"/>
              </a:rPr>
              <a:t>Missed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337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Patterns that damage revenue go unnoticed for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651760"/>
            <a:ext cx="3566160" cy="21031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697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mbria"/>
              </a:rPr>
              <a:t>Lost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37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Each unresolved complaint can cost 10+ future 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  <a:latin typeface="Calibri"/>
              </a:rPr>
              <a:t>This project solves it with an automated NLP sentiment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577840" cy="13258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16151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216151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NLP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45919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7-step text cleaning: lowercase → lemmatise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51560"/>
            <a:ext cx="5577840" cy="13258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216151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  <a:latin typeface="Cambr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216151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645919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6 rich visualisations surfacing hidden patterns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60320"/>
            <a:ext cx="5577840" cy="13258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724912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  <a:latin typeface="Cambr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72491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Sentiment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154679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VADER + TextBlob classification with cross-validation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560320"/>
            <a:ext cx="5577840" cy="13258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724912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  <a:latin typeface="Cambr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72491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ML Classifier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154679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TF-IDF + Logistic Regression — saved production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69080"/>
            <a:ext cx="5577840" cy="13258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233672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  <a:latin typeface="Cambria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2336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Business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66344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5 prioritised, evidence-based recommendations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069080"/>
            <a:ext cx="5577840" cy="13258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233672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  <a:latin typeface="Cambria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2336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Web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66344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Real-time Streamlit app with prediction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6400800" cy="53035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  <a:latin typeface="Cambria"/>
              </a:rPr>
              <a:t>1,000 Restaurant 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Modelled on Yelp Dataset Challenge &amp; Kaggle Restaurant Reviews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Schema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88920"/>
            <a:ext cx="219456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254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reviewer_id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82549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Anonymous reviewer identifier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27832"/>
            <a:ext cx="219456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644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restaurant_name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6440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One of 15 restaurant names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66744"/>
            <a:ext cx="219456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70332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Raw English review 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05656"/>
            <a:ext cx="219456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422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rating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14223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Star rating  1 –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44568"/>
            <a:ext cx="219456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8114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58114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Review date  Jan 2022 – Dec 2024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983479"/>
            <a:ext cx="219456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020055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true_sentiment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5020055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Ground-truth label for evaluation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1097280"/>
            <a:ext cx="4663440" cy="53035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12801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Class Distribution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18288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  <a:latin typeface="Cambria"/>
              </a:rPr>
              <a:t>55%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0B981"/>
                </a:solidFill>
                <a:latin typeface="Calibri"/>
              </a:rPr>
              <a:t>Positive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2560320"/>
            <a:ext cx="4023360" cy="16459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0" y="2560320"/>
            <a:ext cx="2212848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29260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F4444"/>
                </a:solidFill>
                <a:latin typeface="Cambria"/>
              </a:rPr>
              <a:t>30%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063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F4444"/>
                </a:solidFill>
                <a:latin typeface="Calibri"/>
              </a:rPr>
              <a:t>Negative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3657600"/>
            <a:ext cx="4023360" cy="16459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0" y="3657600"/>
            <a:ext cx="1207008" cy="1645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402336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8BDF8"/>
                </a:solidFill>
                <a:latin typeface="Cambria"/>
              </a:rPr>
              <a:t>15%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8BDF8"/>
                </a:solidFill>
                <a:latin typeface="Calibri"/>
              </a:rPr>
              <a:t>Neutral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4754880"/>
            <a:ext cx="4023360" cy="16459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0" y="4754880"/>
            <a:ext cx="603504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56692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4A3B8"/>
                </a:solidFill>
                <a:latin typeface="Calibri"/>
              </a:rPr>
              <a:t>Reflects real-world Yelp skew:
more positives, detailed negatives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NLP Preprocessing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469571" cy="310896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37813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FF33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3781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Lowercase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1378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Good → good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9339" y="2468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63931" y="1143000"/>
            <a:ext cx="1469571" cy="310896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9651" y="1234440"/>
            <a:ext cx="137813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B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9651" y="1828800"/>
            <a:ext cx="13781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Remove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9651" y="2423160"/>
            <a:ext cx="1378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URLs, @mentions, #tags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6070" y="2468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70662" y="1143000"/>
            <a:ext cx="1469571" cy="310896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6382" y="1234440"/>
            <a:ext cx="137813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6382" y="1828800"/>
            <a:ext cx="13781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Strip Punct.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6382" y="2423160"/>
            <a:ext cx="1378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Remove ! , . ? etc.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2802" y="2468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7394" y="1143000"/>
            <a:ext cx="1469571" cy="310896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3114" y="1234440"/>
            <a:ext cx="137813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BB724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3114" y="1828800"/>
            <a:ext cx="13781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Tokenise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3114" y="2423160"/>
            <a:ext cx="1378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Split into word tokens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9533" y="2468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84125" y="1143000"/>
            <a:ext cx="1469571" cy="310896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29845" y="1234440"/>
            <a:ext cx="137813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87171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9845" y="1828800"/>
            <a:ext cx="13781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Stop Words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9845" y="2423160"/>
            <a:ext cx="1378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Remove 'the', 'is', 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6265" y="2468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90857" y="1143000"/>
            <a:ext cx="1469571" cy="310896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36577" y="1234440"/>
            <a:ext cx="137813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  <a:latin typeface="Cambria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6577" y="1828800"/>
            <a:ext cx="13781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Lemmatise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6577" y="2423160"/>
            <a:ext cx="1378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running → 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2996" y="24688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97588" y="1143000"/>
            <a:ext cx="1469571" cy="310896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3308" y="1234440"/>
            <a:ext cx="137813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8BDF8"/>
                </a:solidFill>
                <a:latin typeface="Cambria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3308" y="1828800"/>
            <a:ext cx="13781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Clean Tokens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3308" y="2423160"/>
            <a:ext cx="1378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Final token string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526280"/>
            <a:ext cx="11247120" cy="196596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617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mbria"/>
              </a:rPr>
              <a:t>Before  →  After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0292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CA5A5"/>
                </a:solidFill>
                <a:latin typeface="Calibri"/>
              </a:rPr>
              <a:t>"The PASTA was Amazing!!!"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5029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029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0B981"/>
                </a:solidFill>
                <a:latin typeface="Calibri"/>
              </a:rPr>
              <a:t>"pasta amaze"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623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Lowercase  ·  Stop words removed  ·  Lemmatised  ·  Punctuation stripped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Exploratory Data Analysis — 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606040" cy="128016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39"/>
            <a:ext cx="2423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8BDF8"/>
                </a:solidFill>
                <a:latin typeface="Cambria"/>
              </a:rP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65376"/>
            <a:ext cx="242316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Total Reviews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097280"/>
            <a:ext cx="2606040" cy="128016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234439"/>
            <a:ext cx="2423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  <a:latin typeface="Cambria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865376"/>
            <a:ext cx="242316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Restaurants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2606040" cy="128016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34439"/>
            <a:ext cx="2423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BBF24"/>
                </a:solidFill>
                <a:latin typeface="Cambria"/>
              </a:rPr>
              <a:t>3.7★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65376"/>
            <a:ext cx="242316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Avg Star Rating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097280"/>
            <a:ext cx="2606040" cy="128016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234439"/>
            <a:ext cx="2423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A78BFA"/>
                </a:solidFill>
                <a:latin typeface="Cambria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865376"/>
            <a:ext cx="242316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Avg Words /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06040"/>
            <a:ext cx="5577840" cy="39319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249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Rating Distribution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365865"/>
            <a:ext cx="731520" cy="34913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5760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1★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" y="5018393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5074920"/>
            <a:ext cx="731520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7360" y="5760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2★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72744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4871258"/>
            <a:ext cx="731520" cy="843741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5760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3★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52378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145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4289367"/>
            <a:ext cx="731520" cy="14256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5760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4★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3941895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245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3154680"/>
            <a:ext cx="731520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5760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5★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280720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440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606040"/>
            <a:ext cx="5532120" cy="39319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7249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Key 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24612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2461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5★ reviews account for ~44% of all reviews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867911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3867911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1★ + 2★ together total ~17% — a solvable minority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489704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448970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Average rating: 3.7 / 5.0 across all restaurants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111496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511149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Negative reviews are ~40% longer than positives — unhappy customers elaborate more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733288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573328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12 of 15 restaurants have majority positive sentiment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Word Frequency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749039" cy="539496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mbria"/>
              </a:rPr>
              <a:t>☁️ All 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8BDF8"/>
                </a:solidFill>
                <a:latin typeface="Cambria"/>
              </a:rPr>
              <a:t>food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8BDF8"/>
                </a:solidFill>
                <a:latin typeface="Cambria"/>
              </a:rPr>
              <a:t>staff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8BDF8"/>
                </a:solidFill>
                <a:latin typeface="Cambria"/>
              </a:rPr>
              <a:t>service
great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38BDF8"/>
                </a:solidFill>
                <a:latin typeface="Cambria"/>
              </a:rPr>
              <a:t>delicious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97280"/>
            <a:ext cx="3749039" cy="539496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34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mbria"/>
              </a:rPr>
              <a:t>✅ Positive (4-5★)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mbria"/>
              </a:rPr>
              <a:t>delicious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Cambria"/>
              </a:rPr>
              <a:t>fresh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661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0B981"/>
                </a:solidFill>
                <a:latin typeface="Cambria"/>
              </a:rPr>
              <a:t>amazing
friendly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4348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0B981"/>
                </a:solidFill>
                <a:latin typeface="Cambria"/>
              </a:rPr>
              <a:t>excellent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097280"/>
            <a:ext cx="3749039" cy="539496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234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  <a:latin typeface="Cambria"/>
              </a:rPr>
              <a:t>❌ Negative (1-2★)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8288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444"/>
                </a:solidFill>
                <a:latin typeface="Cambria"/>
              </a:rPr>
              <a:t>wait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6974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F4444"/>
                </a:solidFill>
                <a:latin typeface="Cambria"/>
              </a:rPr>
              <a:t>cold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5661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F4444"/>
                </a:solidFill>
                <a:latin typeface="Cambria"/>
              </a:rPr>
              <a:t>rude
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4348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F4444"/>
                </a:solidFill>
                <a:latin typeface="Cambria"/>
              </a:rPr>
              <a:t>terrible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Insight: Positive reviews emphasise 'delicious', 'staff', 'fresh'. Negative reviews highlight 'wait', 'cold', 'rude'.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Sentiment Engine — Why VADER?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669280" cy="539496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0B981"/>
                </a:solidFill>
                <a:latin typeface="Cambria"/>
              </a:rPr>
              <a:t>VADER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Valence Aware Dictionary
and sEntiment Reasoner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No training data required — works immediately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729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218687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Built for informal, social-media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31335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877055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Handles CAPS emphasis and punctuation!!!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89704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5354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Compound score in [–1, +1] — maps to 3 classes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480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1937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Runs at real-time speed — 50 k reviews/sec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097280"/>
            <a:ext cx="5486400" cy="539496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618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Model Comparison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783080"/>
            <a:ext cx="178308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181051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Feature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783080"/>
            <a:ext cx="105156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810512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Calibri"/>
              </a:rPr>
              <a:t>VADER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783080"/>
            <a:ext cx="105156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1810512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Calibri"/>
              </a:rPr>
              <a:t>TextBlob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0" y="1783080"/>
            <a:ext cx="105156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61320" y="1810512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Calibri"/>
              </a:rPr>
              <a:t>BERT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212848"/>
            <a:ext cx="5303520" cy="384048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22585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No training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2585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22585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22585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Calibri"/>
              </a:rPr>
              <a:t>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670048"/>
            <a:ext cx="5303520" cy="38404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59" y="27157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Social media 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7157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27157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BBF24"/>
                </a:solidFill>
                <a:latin typeface="Calibri"/>
              </a:rPr>
              <a:t>⚠️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61320" y="27157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127248"/>
            <a:ext cx="5303520" cy="384048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59" y="31729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Handles slang/caps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1729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31729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Calibri"/>
              </a:rPr>
              <a:t>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31729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584448"/>
            <a:ext cx="5303520" cy="38404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59" y="36301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Real-time speed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36301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040" y="36301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61320" y="36301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BBF24"/>
                </a:solidFill>
                <a:latin typeface="Calibri"/>
              </a:rPr>
              <a:t>⚠️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4041648"/>
            <a:ext cx="5303520" cy="384048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59" y="40873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Domain-specific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40873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BBF24"/>
                </a:solidFill>
                <a:latin typeface="Calibri"/>
              </a:rPr>
              <a:t>⚠️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4040" y="40873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BBF24"/>
                </a:solidFill>
                <a:latin typeface="Calibri"/>
              </a:rPr>
              <a:t>⚠️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61320" y="40873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4498848"/>
            <a:ext cx="5303520" cy="38404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59" y="45445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Open source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45445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64040" y="45445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61320" y="45445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4956048"/>
            <a:ext cx="5303520" cy="384048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59" y="50017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Ease of setup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50017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Easy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64040" y="50017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Easy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61320" y="50017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Hard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Sentiment Classification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606040" cy="14173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39"/>
            <a:ext cx="2423160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  <a:latin typeface="Cambria"/>
              </a:rPr>
              <a:t>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VADER ↔ TextBlob
Agreement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097280"/>
            <a:ext cx="2606040" cy="14173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234439"/>
            <a:ext cx="2423160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  <a:latin typeface="Cambria"/>
              </a:rPr>
              <a:t>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947672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Positive
Reviews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2606040" cy="14173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34439"/>
            <a:ext cx="2423160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F4444"/>
                </a:solidFill>
                <a:latin typeface="Cambria"/>
              </a:rP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47672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Negative
Reviews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097280"/>
            <a:ext cx="2606040" cy="14173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234439"/>
            <a:ext cx="2423160" cy="7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8BDF8"/>
                </a:solidFill>
                <a:latin typeface="Cambria"/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947672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Neutral
Reviews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43200"/>
            <a:ext cx="5577840" cy="3749039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529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Sentiment Distribution (VADER)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37559"/>
            <a:ext cx="1371600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99008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9495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Positive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4251959"/>
            <a:ext cx="137160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3904487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39495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  <a:latin typeface="Calibri"/>
              </a:rPr>
              <a:t>Negative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4800600"/>
            <a:ext cx="1371600" cy="548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44531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539495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  <a:latin typeface="Calibri"/>
              </a:rPr>
              <a:t>Neutral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743200"/>
            <a:ext cx="5532120" cy="3749039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8529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⭐ Rating vs Predicted Sentiment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  <a:latin typeface="Calibri"/>
              </a:rPr>
              <a:t>Positive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  <a:latin typeface="Calibri"/>
              </a:rPr>
              <a:t>Negative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  <a:latin typeface="Calibri"/>
              </a:rPr>
              <a:t>Neutral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657600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5★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3657600"/>
            <a:ext cx="1325880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373075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3657600"/>
            <a:ext cx="1325880" cy="438912"/>
          </a:xfrm>
          <a:prstGeom prst="rect">
            <a:avLst/>
          </a:prstGeom>
          <a:solidFill>
            <a:srgbClr val="22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373075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49840" y="3657600"/>
            <a:ext cx="1325880" cy="438912"/>
          </a:xfrm>
          <a:prstGeom prst="rect">
            <a:avLst/>
          </a:prstGeom>
          <a:solidFill>
            <a:srgbClr val="1E2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87000" y="373075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169664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4★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169664"/>
            <a:ext cx="1325880" cy="438912"/>
          </a:xfrm>
          <a:prstGeom prst="rect">
            <a:avLst/>
          </a:prstGeom>
          <a:solidFill>
            <a:srgbClr val="1A4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20" y="424281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120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4169664"/>
            <a:ext cx="1325880" cy="438912"/>
          </a:xfrm>
          <a:prstGeom prst="rect">
            <a:avLst/>
          </a:prstGeom>
          <a:solidFill>
            <a:srgbClr val="27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23960" y="424281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49840" y="4169664"/>
            <a:ext cx="1325880" cy="438912"/>
          </a:xfrm>
          <a:prstGeom prst="rect">
            <a:avLst/>
          </a:prstGeom>
          <a:solidFill>
            <a:srgbClr val="1E2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87000" y="424281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681728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3★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4681728"/>
            <a:ext cx="1325880" cy="438912"/>
          </a:xfrm>
          <a:prstGeom prst="rect">
            <a:avLst/>
          </a:prstGeom>
          <a:solidFill>
            <a:srgbClr val="1D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60920" y="475488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6800" y="4681728"/>
            <a:ext cx="1325880" cy="438912"/>
          </a:xfrm>
          <a:prstGeom prst="rect">
            <a:avLst/>
          </a:prstGeom>
          <a:solidFill>
            <a:srgbClr val="312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23960" y="475488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40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49840" y="4681728"/>
            <a:ext cx="1325880" cy="438912"/>
          </a:xfrm>
          <a:prstGeom prst="rect">
            <a:avLst/>
          </a:prstGeom>
          <a:solidFill>
            <a:srgbClr val="23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87000" y="475488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90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5193792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2★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23760" y="5193792"/>
            <a:ext cx="1325880" cy="438912"/>
          </a:xfrm>
          <a:prstGeom prst="rect">
            <a:avLst/>
          </a:prstGeom>
          <a:solidFill>
            <a:srgbClr val="1D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60920" y="526694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0" y="5193792"/>
            <a:ext cx="1325880" cy="438912"/>
          </a:xfrm>
          <a:prstGeom prst="rect">
            <a:avLst/>
          </a:prstGeom>
          <a:solidFill>
            <a:srgbClr val="54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23960" y="526694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110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149840" y="5193792"/>
            <a:ext cx="1325880" cy="438912"/>
          </a:xfrm>
          <a:prstGeom prst="rect">
            <a:avLst/>
          </a:prstGeom>
          <a:solidFill>
            <a:srgbClr val="1E2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87000" y="526694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2240" y="5705856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1★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23760" y="5705856"/>
            <a:ext cx="1325880" cy="438912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60920" y="577900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86800" y="5705856"/>
            <a:ext cx="1325880" cy="438912"/>
          </a:xfrm>
          <a:prstGeom prst="rect">
            <a:avLst/>
          </a:prstGeom>
          <a:solidFill>
            <a:srgbClr val="59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823960" y="577900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120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149840" y="5705856"/>
            <a:ext cx="1325880" cy="438912"/>
          </a:xfrm>
          <a:prstGeom prst="rect">
            <a:avLst/>
          </a:prstGeom>
          <a:solidFill>
            <a:srgbClr val="1F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87000" y="577900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Machine Learning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12344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Pipeline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645920" cy="5943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Clean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600200"/>
            <a:ext cx="2834640" cy="5943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62763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  <a:latin typeface="Calibri"/>
              </a:rPr>
              <a:t>TF-IDF Vectoriser
(8k features, bigrams)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600200"/>
            <a:ext cx="3108960" cy="5943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62763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Logistic Regression
(balanced classes)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600200"/>
            <a:ext cx="1920240" cy="5943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62763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BBF24"/>
                </a:solidFill>
                <a:latin typeface="Calibri"/>
              </a:rPr>
              <a:t>Prediction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60320"/>
            <a:ext cx="5577840" cy="39319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6700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Classification Report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54680"/>
            <a:ext cx="141732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1821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3154680"/>
            <a:ext cx="105156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0279" y="3182112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Calibri"/>
              </a:rPr>
              <a:t>Precision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3154680"/>
            <a:ext cx="105156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182112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Calibri"/>
              </a:rPr>
              <a:t>Recall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3154680"/>
            <a:ext cx="960120" cy="34747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318211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Calibri"/>
              </a:rPr>
              <a:t>F1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584448"/>
            <a:ext cx="5074920" cy="402336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6393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  <a:latin typeface="Calibri"/>
              </a:rPr>
              <a:t>Positive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79" y="3639312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0.91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639312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0.93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6393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0.92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059935"/>
            <a:ext cx="5074920" cy="40233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11479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444"/>
                </a:solidFill>
                <a:latin typeface="Calibri"/>
              </a:rPr>
              <a:t>Negative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79" y="4114799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0.87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4114799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0.85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411479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0.86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535424"/>
            <a:ext cx="5074920" cy="402336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5902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8BDF8"/>
                </a:solidFill>
                <a:latin typeface="Calibri"/>
              </a:rPr>
              <a:t>Neutral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79" y="459028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0.79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459028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0.75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80" y="45902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0.77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010912"/>
            <a:ext cx="5074920" cy="40233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0657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Weighted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40279" y="5065776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0.88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5065776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0.88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506577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  <a:latin typeface="Calibri"/>
              </a:rPr>
              <a:t>0.88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2560320"/>
            <a:ext cx="5532120" cy="393192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26700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Confusion Matrix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30906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Positive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30906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Negative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30906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Neutral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3703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Positive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0" y="3429000"/>
            <a:ext cx="132588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69480" y="3593592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512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95360" y="3429000"/>
            <a:ext cx="1325880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32520" y="3593592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58400" y="3429000"/>
            <a:ext cx="1325880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95560" y="3593592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4663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Negative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32320" y="4389120"/>
            <a:ext cx="1325880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69480" y="4553712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95360" y="4389120"/>
            <a:ext cx="132588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32520" y="4553712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252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58400" y="4389120"/>
            <a:ext cx="1325880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95560" y="4553712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2240" y="562355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Neutral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32320" y="5349240"/>
            <a:ext cx="1325880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69480" y="5513831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95360" y="5349240"/>
            <a:ext cx="1325880" cy="8229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32520" y="5513831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58400" y="5349240"/>
            <a:ext cx="1325880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95560" y="5513831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2240" y="6400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  <a:latin typeface="Cambria"/>
              </a:rPr>
              <a:t>Overall Accuracy: 88%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Business Insights from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4A3B8"/>
                </a:solidFill>
                <a:latin typeface="Calibri"/>
              </a:rPr>
              <a:t>What the data tells restaurant owners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577840" cy="47548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mbria"/>
              </a:rPr>
              <a:t>✅  What Customers Love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774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Food quality &amp; freshness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81635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Mentioned in 78% of 5★ 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832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Staff friendliness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822191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Appears in 65% of positive reviews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3891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Ambiance &amp; cleanliness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82803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Sets overall dining impression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3949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Value for money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8338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Generous portions mentioned often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737360"/>
            <a:ext cx="5532120" cy="47548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82880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  <a:latin typeface="Cambria"/>
              </a:rPr>
              <a:t>❌  Most Common Complaints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3774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37744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Long wait times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81635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Top negative trigger across restaurants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3832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Cold food on arrival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822191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Mentioned in 34% of 1★ reviews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3891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3891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Rude staff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82803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Appears in almost every 1★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3949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53949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Portion vs price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583387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Value mismatch hurts repeat visits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Actionable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EF4444"/>
                </a:solidFill>
                <a:latin typeface="Calibri"/>
              </a:rPr>
              <a:t>Addressing the top 2 priorities could reduce negative reviews by ~30%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11430000" cy="8686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mbria"/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5798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Implement order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847088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Alert kitchen if order exceeds 25 min; real-time wait dashboard for front-of-house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55480" y="1847088"/>
            <a:ext cx="2148840" cy="65836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1920240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  <a:latin typeface="Calibri"/>
              </a:rPr>
              <a:t>~30% fewer negative reviews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97480"/>
            <a:ext cx="11430000" cy="8686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803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77063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mbria"/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1181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Mandatory service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807208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Monthly courtesy workshops; tie staff ratings to performance reviews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55480" y="2807208"/>
            <a:ext cx="2148840" cy="65836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  <a:latin typeface="Calibri"/>
              </a:rPr>
              <a:t>Eliminate #1 complaint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11430000" cy="8686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404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307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mbria"/>
              </a:rP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07822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Food warmers at pass-through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3767328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Install heated counter between kitchen and service; temperature checks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3767328"/>
            <a:ext cx="2148840" cy="65836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3840480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Eliminate cold-food complaints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617720"/>
            <a:ext cx="11430000" cy="8686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8006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6908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mbria"/>
              </a:rP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0383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Portion &amp; pricing 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727448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Review menu vs competitor pricing; introduce value combos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5480" y="4727448"/>
            <a:ext cx="2148840" cy="65836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4800600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Improve value perception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577840"/>
            <a:ext cx="11430000" cy="86868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760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65099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mbria"/>
              </a:rPr>
              <a:t>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99846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Monthly SMS satisfaction survey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5687568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Proactively catch issues before they become public reviews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55480" y="5687568"/>
            <a:ext cx="2148840" cy="65836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0" y="5760720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Early issue detection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Streamlit Web Application —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4A3B8"/>
                </a:solidFill>
                <a:latin typeface="Calibri"/>
              </a:rPr>
              <a:t>Real-time sentiment analysis for restaurant owners — no coding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5532120" cy="14630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4767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mbria"/>
              </a:rPr>
              <a:t>Real-time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2316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Classifies reviews in milliseconds using VADER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783080"/>
            <a:ext cx="5532120" cy="14630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202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94767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mbria"/>
              </a:rPr>
              <a:t>VADER Gauge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42316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Visual compound score from –1 to +1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83280"/>
            <a:ext cx="5532120" cy="14630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4787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mbria"/>
              </a:rPr>
              <a:t>TextBlob Cross-check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02336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Independent validation on every prediction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383280"/>
            <a:ext cx="5532120" cy="14630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5204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54787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mbria"/>
              </a:rPr>
              <a:t>Prediction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02336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Session log with donut chart of sentiment mix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83480"/>
            <a:ext cx="5532120" cy="14630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206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⬇️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4807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mbria"/>
              </a:rPr>
              <a:t>CSV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62356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Download all predictions for reporting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983480"/>
            <a:ext cx="5532120" cy="14630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51206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14807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  <a:latin typeface="Cambria"/>
              </a:rPr>
              <a:t>Dark Mode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62356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Professional interface built with Streamlit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446520"/>
            <a:ext cx="11430000" cy="347472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ourier New"/>
              </a:rPr>
              <a:t>Run with:  streamlit run app.py  →  opens at localhost:8501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Future Improvements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32120" cy="160020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39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8132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mbria"/>
              </a:rPr>
              <a:t>BERT / RoBERTa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93391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Fine-tune transformer models for domain-specific accuracy (+5-8%)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5532120" cy="160020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39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48132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mbria"/>
              </a:rPr>
              <a:t>Aspect-Based Sentiment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993391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Separate scores for food, service, ambiance,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5532120" cy="160020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868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mbria"/>
              </a:rPr>
              <a:t>Multilingual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30752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langdetect + multilingual BERT for international chains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017520"/>
            <a:ext cx="5532120" cy="160020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0040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21868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mbria"/>
              </a:rPr>
              <a:t>Live Data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730752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Connect to Yelp Fusion API / Google Places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54879"/>
            <a:ext cx="5532120" cy="160020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937759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56047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mbria"/>
              </a:rPr>
              <a:t>Business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468112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Real-time competitor benchmarking + trend alerts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754879"/>
            <a:ext cx="5532120" cy="160020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937759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956047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Cambria"/>
              </a:rPr>
              <a:t>Topic Modelling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468112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BERTopic to discover latent themes across 10k+ reviews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640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  <a:latin typeface="Calibri"/>
              </a:rPr>
              <a:t>🍽️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13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7180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94A3B8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931920"/>
            <a:ext cx="2834640" cy="5029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3977639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🔗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400507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github.com/your-username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931920"/>
            <a:ext cx="2834640" cy="5029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3977639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✉️ 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400507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your.email@example.com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3931920"/>
            <a:ext cx="2834640" cy="50292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977639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💼 LinkedIn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4005072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linkedin.com/in/your-profile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4632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4A3B8"/>
                </a:solidFill>
                <a:latin typeface="Calibri"/>
              </a:rPr>
              <a:t>"Turning customer voices into actionable business intelligence — one review at a time."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17220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5566"/>
                </a:solidFill>
                <a:latin typeface="Calibri"/>
              </a:rPr>
              <a:t>Restaurant Review Sentiment Analysis  ·  NLP Portfolio Project  ·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